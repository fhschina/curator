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C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7A3D"/>
          </a:solidFill>
          <a:ln w="12700">
            <a:solidFill>
              <a:srgbClr val="2B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15400" y="685800"/>
            <a:ext cx="2514600" cy="2514600"/>
          </a:xfrm>
          <a:prstGeom prst="roundRect">
            <a:avLst>
              <a:gd name="adj" fmla="val 8000"/>
            </a:avLst>
          </a:prstGeom>
          <a:solidFill>
            <a:srgbClr val="102E5C"/>
          </a:solidFill>
          <a:ln w="12700">
            <a:solidFill>
              <a:srgbClr val="10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55480" y="1325880"/>
            <a:ext cx="1965960" cy="1965960"/>
          </a:xfrm>
          <a:prstGeom prst="roundRect">
            <a:avLst>
              <a:gd name="adj" fmla="val 8000"/>
            </a:avLst>
          </a:prstGeom>
          <a:solidFill>
            <a:srgbClr val="062F90"/>
          </a:solidFill>
          <a:ln w="12700">
            <a:solidFill>
              <a:srgbClr val="062F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31552" y="1883664"/>
            <a:ext cx="1307592" cy="1307592"/>
          </a:xfrm>
          <a:prstGeom prst="roundRect">
            <a:avLst>
              <a:gd name="adj" fmla="val 8000"/>
            </a:avLst>
          </a:prstGeom>
          <a:solidFill>
            <a:srgbClr val="095A62"/>
          </a:solidFill>
          <a:ln w="12700">
            <a:solidFill>
              <a:srgbClr val="095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68512" y="3090672"/>
            <a:ext cx="164592" cy="164592"/>
          </a:xfrm>
          <a:prstGeom prst="ellipse">
            <a:avLst/>
          </a:prstGeom>
          <a:solidFill>
            <a:srgbClr val="CD580A"/>
          </a:solidFill>
          <a:ln>
            <a:solidFill>
              <a:srgbClr val="CD5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11712" y="493776"/>
            <a:ext cx="100584" cy="100584"/>
          </a:xfrm>
          <a:prstGeom prst="ellipse">
            <a:avLst/>
          </a:prstGeom>
          <a:solidFill>
            <a:srgbClr val="2B7A3D"/>
          </a:solidFill>
          <a:ln>
            <a:solidFill>
              <a:srgbClr val="2B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301752"/>
            <a:ext cx="2711196" cy="292608"/>
          </a:xfrm>
          <a:prstGeom prst="roundRect">
            <a:avLst>
              <a:gd name="adj" fmla="val 35000"/>
            </a:avLst>
          </a:prstGeom>
          <a:solidFill>
            <a:srgbClr val="2B7A3D"/>
          </a:solidFill>
          <a:ln w="12700">
            <a:solidFill>
              <a:srgbClr val="2B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8328"/>
            <a:ext cx="2564891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PROJECT STATUS BRIEFING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338328"/>
            <a:ext cx="1965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AFC3DF"/>
                </a:solidFill>
                <a:latin typeface="Aptos"/>
              </a:rPr>
              <a:t>18 AUG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143000"/>
            <a:ext cx="7498079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AFC3DF"/>
                </a:solidFill>
                <a:latin typeface="Aptos"/>
              </a:rPr>
              <a:t>NeMo Curator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664208"/>
            <a:ext cx="800100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 Display"/>
              </a:rPr>
              <a:t>Fuzzy Dedup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487168"/>
            <a:ext cx="67665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DE8F5"/>
                </a:solidFill>
                <a:latin typeface="Aptos"/>
              </a:rPr>
              <a:t>Current Status · Formal V0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063240"/>
            <a:ext cx="8869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0A9C8"/>
                </a:solidFill>
                <a:latin typeface="Aptos"/>
              </a:rPr>
              <a:t>Dataset  </a:t>
            </a:r>
            <a:r>
              <a:rPr sz="900" b="1">
                <a:solidFill>
                  <a:srgbClr val="FFFFFF"/>
                </a:solidFill>
                <a:latin typeface="Aptos"/>
              </a:rPr>
              <a:t>CC-MAIN-2025-26-dense-10m-v0</a:t>
            </a:r>
            <a:r>
              <a:rPr sz="900" b="1">
                <a:solidFill>
                  <a:srgbClr val="90A9C8"/>
                </a:solidFill>
                <a:latin typeface="Aptos"/>
              </a:rPr>
              <a:t>     Run  </a:t>
            </a:r>
            <a:r>
              <a:rPr sz="900" b="1">
                <a:solidFill>
                  <a:srgbClr val="FFFFFF"/>
                </a:solidFill>
                <a:latin typeface="Aptos"/>
              </a:rPr>
              <a:t>dedup-full-20260813T220949Z-d4c37bb483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4315968"/>
            <a:ext cx="3255264" cy="1243584"/>
          </a:xfrm>
          <a:prstGeom prst="roundRect">
            <a:avLst>
              <a:gd name="adj" fmla="val 8000"/>
            </a:avLst>
          </a:prstGeom>
          <a:solidFill>
            <a:srgbClr val="0C2851"/>
          </a:solidFill>
          <a:ln w="12700">
            <a:solidFill>
              <a:srgbClr val="294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" y="4315968"/>
            <a:ext cx="64008" cy="1243584"/>
          </a:xfrm>
          <a:prstGeom prst="rect">
            <a:avLst/>
          </a:prstGeom>
          <a:solidFill>
            <a:srgbClr val="062F90"/>
          </a:solidFill>
          <a:ln w="12700">
            <a:solidFill>
              <a:srgbClr val="062F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553712"/>
            <a:ext cx="27432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10,008,061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065776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0" b="1">
                <a:solidFill>
                  <a:srgbClr val="AFC3DF"/>
                </a:solidFill>
                <a:latin typeface="Aptos"/>
              </a:rPr>
              <a:t>CORPUS DOCUMENTS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87952" y="4315968"/>
            <a:ext cx="3255264" cy="1243584"/>
          </a:xfrm>
          <a:prstGeom prst="roundRect">
            <a:avLst>
              <a:gd name="adj" fmla="val 8000"/>
            </a:avLst>
          </a:prstGeom>
          <a:solidFill>
            <a:srgbClr val="0C2851"/>
          </a:solidFill>
          <a:ln w="12700">
            <a:solidFill>
              <a:srgbClr val="294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87952" y="4315968"/>
            <a:ext cx="64008" cy="1243584"/>
          </a:xfrm>
          <a:prstGeom prst="rect">
            <a:avLst/>
          </a:prstGeom>
          <a:solidFill>
            <a:srgbClr val="188793"/>
          </a:solidFill>
          <a:ln w="12700">
            <a:solidFill>
              <a:srgbClr val="188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4553712"/>
            <a:ext cx="27432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20,000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5065776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0" b="1">
                <a:solidFill>
                  <a:srgbClr val="AFC3DF"/>
                </a:solidFill>
                <a:latin typeface="Aptos"/>
              </a:rPr>
              <a:t>JUDGED PAIRS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315968"/>
            <a:ext cx="3255264" cy="1243584"/>
          </a:xfrm>
          <a:prstGeom prst="roundRect">
            <a:avLst>
              <a:gd name="adj" fmla="val 8000"/>
            </a:avLst>
          </a:prstGeom>
          <a:solidFill>
            <a:srgbClr val="0C2851"/>
          </a:solidFill>
          <a:ln w="12700">
            <a:solidFill>
              <a:srgbClr val="294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4315968"/>
            <a:ext cx="64008" cy="1243584"/>
          </a:xfrm>
          <a:prstGeom prst="rect">
            <a:avLst/>
          </a:prstGeom>
          <a:solidFill>
            <a:srgbClr val="2B7A3D"/>
          </a:solidFill>
          <a:ln w="12700">
            <a:solidFill>
              <a:srgbClr val="2B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4553712"/>
            <a:ext cx="27432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99.97%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5065776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0" b="1">
                <a:solidFill>
                  <a:srgbClr val="AFC3DF"/>
                </a:solidFill>
                <a:latin typeface="Aptos"/>
              </a:rPr>
              <a:t>SCHEMA-VALID COMPLETION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10160">
            <a:solidFill>
              <a:srgbClr val="294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6510528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FC3DF"/>
                </a:solidFill>
                <a:latin typeface="Aptos"/>
              </a:rPr>
              <a:t>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6672" y="6510528"/>
            <a:ext cx="14630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AFC3DF"/>
                </a:solidFill>
                <a:latin typeface="Aptos"/>
              </a:rPr>
              <a:t>FORMAL V0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10528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FC3D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01752"/>
            <a:ext cx="1175004" cy="292608"/>
          </a:xfrm>
          <a:prstGeom prst="roundRect">
            <a:avLst>
              <a:gd name="adj" fmla="val 35000"/>
            </a:avLst>
          </a:prstGeom>
          <a:solidFill>
            <a:srgbClr val="062F90"/>
          </a:solidFill>
          <a:ln w="12700">
            <a:solidFill>
              <a:srgbClr val="062F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38328"/>
            <a:ext cx="10287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71C41"/>
                </a:solidFill>
                <a:latin typeface="Aptos Display"/>
              </a:rPr>
              <a:t>What Are We Evaluating?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79576"/>
            <a:ext cx="10881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6274"/>
                </a:solidFill>
                <a:latin typeface="Aptos"/>
              </a:rPr>
              <a:t>A focused audit of removal safety and plausible missed duplicates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618488"/>
            <a:ext cx="6720840" cy="2011680"/>
          </a:xfrm>
          <a:prstGeom prst="roundRect">
            <a:avLst>
              <a:gd name="adj" fmla="val 8000"/>
            </a:avLst>
          </a:prstGeom>
          <a:solidFill>
            <a:srgbClr val="071C41"/>
          </a:solidFill>
          <a:ln w="12700">
            <a:solidFill>
              <a:srgbClr val="07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47088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CB0FF"/>
                </a:solidFill>
                <a:latin typeface="Aptos"/>
              </a:rP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76272"/>
            <a:ext cx="598932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Measure whether the frozen fuzzy-dedup SUT removes documents safely — and whether plausible duplicates remain across predicted groups.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182112"/>
            <a:ext cx="5897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9D8EB"/>
                </a:solidFill>
                <a:latin typeface="Aptos"/>
              </a:rPr>
              <a:t>Evaluation only: exact dedup was completed upstream; no corpus rows are physically removed 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618488"/>
            <a:ext cx="400507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1847088"/>
            <a:ext cx="1828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62F90"/>
                </a:solidFill>
                <a:latin typeface="Aptos"/>
              </a:rPr>
              <a:t>FROZEN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2176272"/>
            <a:ext cx="3319272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800" b="1">
                <a:solidFill>
                  <a:srgbClr val="071C41"/>
                </a:solidFill>
                <a:latin typeface="Aptos"/>
              </a:rPr>
              <a:t>10,008,061 documents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000" b="0">
                <a:solidFill>
                  <a:srgbClr val="556274"/>
                </a:solidFill>
                <a:latin typeface="Aptos"/>
              </a:rPr>
              <a:t>CC-MAIN-2025-26 · exact-deduplicated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111827"/>
                </a:solidFill>
                <a:latin typeface="Aptos"/>
              </a:rPr>
              <a:t>One frozen fuzzy-dedup SUT run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56274"/>
                </a:solidFill>
                <a:latin typeface="Aptos"/>
              </a:rPr>
              <a:t>Blind Judge: nvidia/deepseek-ai/deepseek-v4-pro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3931920"/>
            <a:ext cx="2542032" cy="159105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169663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62F90"/>
                </a:solidFill>
                <a:latin typeface="Aptos"/>
              </a:rPr>
              <a:t>SUT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471416"/>
            <a:ext cx="2103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71C41"/>
                </a:solidFill>
                <a:latin typeface="Aptos"/>
              </a:rPr>
              <a:t>System Under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837176"/>
            <a:ext cx="2103120" cy="4297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556274"/>
                </a:solidFill>
                <a:latin typeface="Aptos"/>
              </a:rPr>
              <a:t>Frozen fuzzy-dedup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3931920"/>
            <a:ext cx="2542032" cy="1591056"/>
          </a:xfrm>
          <a:prstGeom prst="roundRect">
            <a:avLst>
              <a:gd name="adj" fmla="val 8000"/>
            </a:avLst>
          </a:prstGeom>
          <a:solidFill>
            <a:srgbClr val="F3F8F1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4169663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E5825"/>
                </a:solidFill>
                <a:latin typeface="Aptos"/>
              </a:rPr>
              <a:t>KEEPER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4471416"/>
            <a:ext cx="2103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71C41"/>
                </a:solidFill>
                <a:latin typeface="Aptos"/>
              </a:rPr>
              <a:t>Retained document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4837176"/>
            <a:ext cx="2103120" cy="4297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556274"/>
                </a:solidFill>
                <a:latin typeface="Aptos"/>
              </a:rPr>
              <a:t>Chosen representative of a group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79" y="3931920"/>
            <a:ext cx="2542032" cy="1591056"/>
          </a:xfrm>
          <a:prstGeom prst="roundRect">
            <a:avLst>
              <a:gd name="adj" fmla="val 8000"/>
            </a:avLst>
          </a:prstGeom>
          <a:solidFill>
            <a:srgbClr val="FFF1E2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4169663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D580A"/>
                </a:solidFill>
                <a:latin typeface="Aptos"/>
              </a:rPr>
              <a:t>REMOVED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4471416"/>
            <a:ext cx="2103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71C41"/>
                </a:solidFill>
                <a:latin typeface="Aptos"/>
              </a:rPr>
              <a:t>Removal candidate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4837176"/>
            <a:ext cx="2103120" cy="4297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556274"/>
                </a:solidFill>
                <a:latin typeface="Aptos"/>
              </a:rPr>
              <a:t>Document the SUT would discard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97112" y="3931920"/>
            <a:ext cx="2542032" cy="1591056"/>
          </a:xfrm>
          <a:prstGeom prst="roundRect">
            <a:avLst>
              <a:gd name="adj" fmla="val 8000"/>
            </a:avLst>
          </a:prstGeom>
          <a:solidFill>
            <a:srgbClr val="EDF7F7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6568" y="4169663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95A62"/>
                </a:solidFill>
                <a:latin typeface="Aptos"/>
              </a:rPr>
              <a:t>LLM JUDGE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4471416"/>
            <a:ext cx="2103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71C41"/>
                </a:solidFill>
                <a:latin typeface="Aptos"/>
              </a:rPr>
              <a:t>Blind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4837176"/>
            <a:ext cx="2103120" cy="4297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556274"/>
                </a:solidFill>
                <a:latin typeface="Aptos"/>
              </a:rPr>
              <a:t>Structured pair-level decision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" y="5742432"/>
            <a:ext cx="11009376" cy="438912"/>
          </a:xfrm>
          <a:prstGeom prst="roundRect">
            <a:avLst>
              <a:gd name="adj" fmla="val 8000"/>
            </a:avLst>
          </a:prstGeom>
          <a:solidFill>
            <a:srgbClr val="FFF5D8"/>
          </a:solidFill>
          <a:ln w="12700">
            <a:solidFill>
              <a:srgbClr val="F0D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879592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78B00"/>
                </a:solidFill>
                <a:latin typeface="Aptos"/>
              </a:rPr>
              <a:t>Design principle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852160"/>
            <a:ext cx="923544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071C41"/>
                </a:solidFill>
                <a:latin typeface="Aptos"/>
              </a:rPr>
              <a:t>Freeze configuration · blind the Judge · preserve provenance · keep the two evaluation frames separate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510528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718096"/>
                </a:solidFill>
                <a:latin typeface="Aptos"/>
              </a:rPr>
              <a:t>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6672" y="6510528"/>
            <a:ext cx="14630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18096"/>
                </a:solidFill>
                <a:latin typeface="Aptos"/>
              </a:rPr>
              <a:t>FORMAL V0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10528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71809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01752"/>
            <a:ext cx="2327148" cy="292608"/>
          </a:xfrm>
          <a:prstGeom prst="roundRect">
            <a:avLst>
              <a:gd name="adj" fmla="val 35000"/>
            </a:avLst>
          </a:prstGeom>
          <a:solidFill>
            <a:srgbClr val="0E5825"/>
          </a:solidFill>
          <a:ln w="12700">
            <a:solidFill>
              <a:srgbClr val="0E5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38328"/>
            <a:ext cx="218084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EVALUATION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71C41"/>
                </a:solidFill>
                <a:latin typeface="Aptos Display"/>
              </a:rPr>
              <a:t>Two Questions, Two Evaluation Tracks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79576"/>
            <a:ext cx="10881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6274"/>
                </a:solidFill>
                <a:latin typeface="Aptos"/>
              </a:rPr>
              <a:t>The tracks answer different questions and use different sampling frames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581912"/>
            <a:ext cx="534924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1581912"/>
            <a:ext cx="5349240" cy="530352"/>
          </a:xfrm>
          <a:prstGeom prst="roundRect">
            <a:avLst>
              <a:gd name="adj" fmla="val 8000"/>
            </a:avLst>
          </a:prstGeom>
          <a:solidFill>
            <a:srgbClr val="CD580A"/>
          </a:solidFill>
          <a:ln w="12700">
            <a:solidFill>
              <a:srgbClr val="CD5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46504"/>
            <a:ext cx="48280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TRACK 5a · REMOVAL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95728"/>
            <a:ext cx="4709160" cy="8412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71C41"/>
                </a:solidFill>
                <a:latin typeface="Aptos Display"/>
              </a:rPr>
              <a:t>Can the selected keeper safely replace the document marked for removal?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3364992"/>
            <a:ext cx="4791456" cy="585216"/>
          </a:xfrm>
          <a:prstGeom prst="roundRect">
            <a:avLst>
              <a:gd name="adj" fmla="val 8000"/>
            </a:avLst>
          </a:prstGeom>
          <a:solidFill>
            <a:srgbClr val="FFF1E2"/>
          </a:solidFill>
          <a:ln w="12700">
            <a:solidFill>
              <a:srgbClr val="FFF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3520440"/>
            <a:ext cx="442569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D580A"/>
                </a:solidFill>
                <a:latin typeface="Aptos"/>
              </a:rPr>
              <a:t>10,000 keeper → removed 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114800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>
                <a:solidFill>
                  <a:srgbClr val="CD580A"/>
                </a:solidFill>
                <a:latin typeface="Aptos"/>
              </a:rPr>
              <a:t>SAMPLING FRAME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105656"/>
            <a:ext cx="35753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9" b="0">
                <a:solidFill>
                  <a:srgbClr val="111827"/>
                </a:solidFill>
                <a:latin typeface="Aptos"/>
              </a:rPr>
              <a:t>Uniform sample from 1,668,619 actual removal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526280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>
                <a:solidFill>
                  <a:srgbClr val="CD580A"/>
                </a:solidFill>
                <a:latin typeface="Aptos"/>
              </a:rPr>
              <a:t>JUDGE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517136"/>
            <a:ext cx="35753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9" b="0">
                <a:solidFill>
                  <a:srgbClr val="111827"/>
                </a:solidFill>
                <a:latin typeface="Aptos"/>
              </a:rPr>
              <a:t>Directional replacement: keeper can replace removed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937760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>
                <a:solidFill>
                  <a:srgbClr val="CD580A"/>
                </a:solidFill>
                <a:latin typeface="Apto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928616"/>
            <a:ext cx="35753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9" b="1">
                <a:solidFill>
                  <a:srgbClr val="111827"/>
                </a:solidFill>
                <a:latin typeface="Aptos"/>
              </a:rPr>
              <a:t>Removal precision / wrong-removal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1581912"/>
            <a:ext cx="534924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54496" y="1581912"/>
            <a:ext cx="5349240" cy="530352"/>
          </a:xfrm>
          <a:prstGeom prst="roundRect">
            <a:avLst>
              <a:gd name="adj" fmla="val 8000"/>
            </a:avLst>
          </a:prstGeom>
          <a:solidFill>
            <a:srgbClr val="095A62"/>
          </a:solidFill>
          <a:ln w="12700">
            <a:solidFill>
              <a:srgbClr val="095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746504"/>
            <a:ext cx="48280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TRACK 5b · MISSED-DUPLICATE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95728"/>
            <a:ext cx="4709160" cy="8412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71C41"/>
                </a:solidFill>
                <a:latin typeface="Aptos Display"/>
              </a:rPr>
              <a:t>Do documents assigned to different predicted groups actually belong together?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28816" y="3364992"/>
            <a:ext cx="4791456" cy="585216"/>
          </a:xfrm>
          <a:prstGeom prst="roundRect">
            <a:avLst>
              <a:gd name="adj" fmla="val 8000"/>
            </a:avLst>
          </a:prstGeom>
          <a:solidFill>
            <a:srgbClr val="EDF7F7"/>
          </a:solidFill>
          <a:ln w="12700">
            <a:solidFill>
              <a:srgbClr val="ED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3" y="3520440"/>
            <a:ext cx="442569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95A62"/>
                </a:solidFill>
                <a:latin typeface="Aptos"/>
              </a:rPr>
              <a:t>10,000 cross-group candidate pairs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114800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>
                <a:solidFill>
                  <a:srgbClr val="095A62"/>
                </a:solidFill>
                <a:latin typeface="Aptos"/>
              </a:rPr>
              <a:t>SAMPLING FRAME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105656"/>
            <a:ext cx="35753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9" b="0">
                <a:solidFill>
                  <a:srgbClr val="111827"/>
                </a:solidFill>
                <a:latin typeface="Aptos"/>
              </a:rPr>
              <a:t>Selected pool from 1,000 anchors via lexical + semantic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4526280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>
                <a:solidFill>
                  <a:srgbClr val="095A62"/>
                </a:solidFill>
                <a:latin typeface="Aptos"/>
              </a:rPr>
              <a:t>JUDGE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517136"/>
            <a:ext cx="35753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9" b="0">
                <a:solidFill>
                  <a:srgbClr val="111827"/>
                </a:solidFill>
                <a:latin typeface="Aptos"/>
              </a:rPr>
              <a:t>Group relation: same duplicate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937760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>
                <a:solidFill>
                  <a:srgbClr val="095A62"/>
                </a:solidFill>
                <a:latin typeface="Aptos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928616"/>
            <a:ext cx="3575304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9" b="1">
                <a:solidFill>
                  <a:srgbClr val="111827"/>
                </a:solidFill>
                <a:latin typeface="Aptos"/>
              </a:rPr>
              <a:t>Candidate-pool positive yield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" y="5687568"/>
            <a:ext cx="11018520" cy="502920"/>
          </a:xfrm>
          <a:prstGeom prst="roundRect">
            <a:avLst>
              <a:gd name="adj" fmla="val 8000"/>
            </a:avLst>
          </a:prstGeom>
          <a:solidFill>
            <a:srgbClr val="FFF5D8"/>
          </a:solidFill>
          <a:ln w="12700">
            <a:solidFill>
              <a:srgbClr val="F0D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852160"/>
            <a:ext cx="141732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0" b="1">
                <a:solidFill>
                  <a:srgbClr val="C78B00"/>
                </a:solidFill>
                <a:latin typeface="Aptos"/>
              </a:rPr>
              <a:t>REPORTING 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824728"/>
            <a:ext cx="885139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71C41"/>
                </a:solidFill>
                <a:latin typeface="Aptos"/>
              </a:rPr>
              <a:t>Do not pool 5a + 5b into one confusion matrix — and do not call 5b corpus recall.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6510528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718096"/>
                </a:solidFill>
                <a:latin typeface="Aptos"/>
              </a:rPr>
              <a:t>EVALUATION APPROACH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6510528"/>
            <a:ext cx="14630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18096"/>
                </a:solidFill>
                <a:latin typeface="Aptos"/>
              </a:rPr>
              <a:t>FORMAL V0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10528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71809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01752"/>
            <a:ext cx="2327148" cy="292608"/>
          </a:xfrm>
          <a:prstGeom prst="roundRect">
            <a:avLst>
              <a:gd name="adj" fmla="val 35000"/>
            </a:avLst>
          </a:prstGeom>
          <a:solidFill>
            <a:srgbClr val="0E5825"/>
          </a:solidFill>
          <a:ln w="12700">
            <a:solidFill>
              <a:srgbClr val="0E5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38328"/>
            <a:ext cx="218084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EVALUATION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71C41"/>
                </a:solidFill>
                <a:latin typeface="Aptos Display"/>
              </a:rPr>
              <a:t>How the Evaluation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79576"/>
            <a:ext cx="10881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6274"/>
                </a:solidFill>
                <a:latin typeface="Aptos"/>
              </a:rPr>
              <a:t>A compressed view of the ten-step operational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322576"/>
            <a:ext cx="1417320" cy="196596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BD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7315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62F90"/>
                </a:solidFill>
                <a:latin typeface="Aptos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96012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71C41"/>
                </a:solidFill>
                <a:latin typeface="Aptos Display"/>
              </a:rPr>
              <a:t>Frozen SUT
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9601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556274"/>
                </a:solidFill>
                <a:latin typeface="Aptos"/>
              </a:rPr>
              <a:t>groups · keepers
removal decisions</a:t>
            </a:r>
          </a:p>
        </p:txBody>
      </p:sp>
      <p:sp>
        <p:nvSpPr>
          <p:cNvPr id="10" name="Chevron 9"/>
          <p:cNvSpPr/>
          <p:nvPr/>
        </p:nvSpPr>
        <p:spPr>
          <a:xfrm>
            <a:off x="1901952" y="3182112"/>
            <a:ext cx="228600" cy="219456"/>
          </a:xfrm>
          <a:prstGeom prst="chevron">
            <a:avLst>
              <a:gd name="adj" fmla="val 65000"/>
            </a:avLst>
          </a:prstGeom>
          <a:solidFill>
            <a:srgbClr val="9DAFC1"/>
          </a:solidFill>
          <a:ln>
            <a:solidFill>
              <a:srgbClr val="9D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76272" y="1554480"/>
            <a:ext cx="3730752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76272" y="1554480"/>
            <a:ext cx="3730752" cy="530352"/>
          </a:xfrm>
          <a:prstGeom prst="roundRect">
            <a:avLst>
              <a:gd name="adj" fmla="val 8000"/>
            </a:avLst>
          </a:prstGeom>
          <a:solidFill>
            <a:srgbClr val="071C41"/>
          </a:solidFill>
          <a:ln w="12700">
            <a:solidFill>
              <a:srgbClr val="07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2304" y="1737360"/>
            <a:ext cx="3218688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PAIR CONSTRUCTION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377440"/>
            <a:ext cx="3145536" cy="969264"/>
          </a:xfrm>
          <a:prstGeom prst="roundRect">
            <a:avLst>
              <a:gd name="adj" fmla="val 8000"/>
            </a:avLst>
          </a:prstGeom>
          <a:solidFill>
            <a:srgbClr val="FFF1E2"/>
          </a:solidFill>
          <a:ln w="12700">
            <a:solidFill>
              <a:srgbClr val="F3C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2" y="2615184"/>
            <a:ext cx="38404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D580A"/>
                </a:solidFill>
                <a:latin typeface="Aptos"/>
              </a:rPr>
              <a:t>5a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514600"/>
            <a:ext cx="219456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71C41"/>
                </a:solidFill>
                <a:latin typeface="Aptos"/>
              </a:rPr>
              <a:t>Uniformly sample actual
keeper → removed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063240"/>
            <a:ext cx="221284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90" b="0">
                <a:solidFill>
                  <a:srgbClr val="556274"/>
                </a:solidFill>
                <a:latin typeface="Aptos"/>
              </a:rPr>
              <a:t>10,000 pairs from 1,668,619 removals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639312"/>
            <a:ext cx="3145536" cy="1088136"/>
          </a:xfrm>
          <a:prstGeom prst="roundRect">
            <a:avLst>
              <a:gd name="adj" fmla="val 8000"/>
            </a:avLst>
          </a:prstGeom>
          <a:solidFill>
            <a:srgbClr val="EDF7F7"/>
          </a:solidFill>
          <a:ln w="12700">
            <a:solidFill>
              <a:srgbClr val="B7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9192" y="3931920"/>
            <a:ext cx="38404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95A62"/>
                </a:solidFill>
                <a:latin typeface="Aptos"/>
              </a:rPr>
              <a:t>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794760"/>
            <a:ext cx="2212848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60" b="1">
                <a:solidFill>
                  <a:srgbClr val="071C41"/>
                </a:solidFill>
                <a:latin typeface="Aptos"/>
              </a:rPr>
              <a:t>1,000 anchors → lexical +
semantic cross-group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416552"/>
            <a:ext cx="221284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90" b="0">
                <a:solidFill>
                  <a:srgbClr val="556274"/>
                </a:solidFill>
                <a:latin typeface="Aptos"/>
              </a:rPr>
              <a:t>10,000 selected candidate pairs</a:t>
            </a:r>
          </a:p>
        </p:txBody>
      </p:sp>
      <p:sp>
        <p:nvSpPr>
          <p:cNvPr id="22" name="Chevron 21"/>
          <p:cNvSpPr/>
          <p:nvPr/>
        </p:nvSpPr>
        <p:spPr>
          <a:xfrm>
            <a:off x="6007608" y="3182112"/>
            <a:ext cx="228600" cy="219456"/>
          </a:xfrm>
          <a:prstGeom prst="chevron">
            <a:avLst>
              <a:gd name="adj" fmla="val 65000"/>
            </a:avLst>
          </a:prstGeom>
          <a:solidFill>
            <a:srgbClr val="9DAFC1"/>
          </a:solidFill>
          <a:ln>
            <a:solidFill>
              <a:srgbClr val="9D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72784" y="2057400"/>
            <a:ext cx="1664208" cy="2505456"/>
          </a:xfrm>
          <a:prstGeom prst="roundRect">
            <a:avLst>
              <a:gd name="adj" fmla="val 8000"/>
            </a:avLst>
          </a:prstGeom>
          <a:solidFill>
            <a:srgbClr val="071C41"/>
          </a:solidFill>
          <a:ln w="12700">
            <a:solidFill>
              <a:srgbClr val="07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331720"/>
            <a:ext cx="10515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FD0D8"/>
                </a:solidFill>
                <a:latin typeface="Aptos"/>
              </a:rPr>
              <a:t>BLIND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706624"/>
            <a:ext cx="1115568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LLM
Judge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584448"/>
            <a:ext cx="1152144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C9D8EB"/>
                </a:solidFill>
                <a:latin typeface="Aptos"/>
              </a:rPr>
              <a:t>Text + neutral
metadata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151376"/>
            <a:ext cx="117043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90A9C8"/>
                </a:solidFill>
                <a:latin typeface="Aptos"/>
              </a:rPr>
              <a:t>SUT · track · retriever
information hidden</a:t>
            </a:r>
          </a:p>
        </p:txBody>
      </p:sp>
      <p:sp>
        <p:nvSpPr>
          <p:cNvPr id="28" name="Chevron 27"/>
          <p:cNvSpPr/>
          <p:nvPr/>
        </p:nvSpPr>
        <p:spPr>
          <a:xfrm>
            <a:off x="8028431" y="3182112"/>
            <a:ext cx="228600" cy="219456"/>
          </a:xfrm>
          <a:prstGeom prst="chevron">
            <a:avLst>
              <a:gd name="adj" fmla="val 65000"/>
            </a:avLst>
          </a:prstGeom>
          <a:solidFill>
            <a:srgbClr val="9DAFC1"/>
          </a:solidFill>
          <a:ln>
            <a:solidFill>
              <a:srgbClr val="9D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93608" y="2322576"/>
            <a:ext cx="1563624" cy="196596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 w="12700">
            <a:solidFill>
              <a:srgbClr val="D2C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0496" y="2560320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31B78"/>
                </a:solidFill>
                <a:latin typeface="Aptos"/>
              </a:rPr>
              <a:t>COMPARE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2926080"/>
            <a:ext cx="1078992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71C41"/>
                </a:solidFill>
                <a:latin typeface="Aptos Display"/>
              </a:rPr>
              <a:t>Restore SUT
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0496" y="3712463"/>
            <a:ext cx="1078992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556274"/>
                </a:solidFill>
                <a:latin typeface="Aptos"/>
              </a:rPr>
              <a:t>5a: replacement
5b: group relation</a:t>
            </a:r>
          </a:p>
        </p:txBody>
      </p:sp>
      <p:sp>
        <p:nvSpPr>
          <p:cNvPr id="33" name="Chevron 32"/>
          <p:cNvSpPr/>
          <p:nvPr/>
        </p:nvSpPr>
        <p:spPr>
          <a:xfrm>
            <a:off x="9948672" y="3182112"/>
            <a:ext cx="228600" cy="219456"/>
          </a:xfrm>
          <a:prstGeom prst="chevron">
            <a:avLst>
              <a:gd name="adj" fmla="val 65000"/>
            </a:avLst>
          </a:prstGeom>
          <a:solidFill>
            <a:srgbClr val="9DAFC1"/>
          </a:solidFill>
          <a:ln>
            <a:solidFill>
              <a:srgbClr val="9D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213848" y="2322576"/>
            <a:ext cx="1572768" cy="1965960"/>
          </a:xfrm>
          <a:prstGeom prst="roundRect">
            <a:avLst>
              <a:gd name="adj" fmla="val 8000"/>
            </a:avLst>
          </a:prstGeom>
          <a:solidFill>
            <a:srgbClr val="F3F8F1"/>
          </a:solidFill>
          <a:ln w="12700">
            <a:solidFill>
              <a:srgbClr val="C3D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69880" y="2560320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E5825"/>
                </a:solidFill>
                <a:latin typeface="Aptos"/>
              </a:rPr>
              <a:t>FINISH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69880" y="2926080"/>
            <a:ext cx="1088136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71C41"/>
                </a:solidFill>
                <a:latin typeface="Aptos Display"/>
              </a:rPr>
              <a:t>Metrics +
diagnosis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69880" y="3703320"/>
            <a:ext cx="109728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6274"/>
                </a:solidFill>
                <a:latin typeface="Aptos"/>
              </a:rPr>
              <a:t>frame-valid claims
and recommended actions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76272" y="5358384"/>
            <a:ext cx="9601200" cy="521207"/>
          </a:xfrm>
          <a:prstGeom prst="roundRect">
            <a:avLst>
              <a:gd name="adj" fmla="val 8000"/>
            </a:avLst>
          </a:prstGeom>
          <a:solidFill>
            <a:srgbClr val="FFF5D8"/>
          </a:solidFill>
          <a:ln w="12700">
            <a:solidFill>
              <a:srgbClr val="F0D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41448" y="5522976"/>
            <a:ext cx="8412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C78B00"/>
                </a:solidFill>
                <a:latin typeface="Aptos"/>
              </a:rPr>
              <a:t>Judge 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9272" y="5495544"/>
            <a:ext cx="8183879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071C41"/>
                </a:solidFill>
                <a:latin typeface="Aptos"/>
              </a:rPr>
              <a:t>same duplicate group · directional replacement · relation type · material difference · evidence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6928" y="6510528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718096"/>
                </a:solidFill>
                <a:latin typeface="Aptos"/>
              </a:rPr>
              <a:t>EVALUATION APPROACH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76672" y="6510528"/>
            <a:ext cx="14630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18096"/>
                </a:solidFill>
                <a:latin typeface="Aptos"/>
              </a:rPr>
              <a:t>FORMAL V0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510528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71809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01752"/>
            <a:ext cx="2135124" cy="292608"/>
          </a:xfrm>
          <a:prstGeom prst="roundRect">
            <a:avLst>
              <a:gd name="adj" fmla="val 35000"/>
            </a:avLst>
          </a:prstGeom>
          <a:solidFill>
            <a:srgbClr val="331B78"/>
          </a:solidFill>
          <a:ln w="12700">
            <a:solidFill>
              <a:srgbClr val="331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38328"/>
            <a:ext cx="1988819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RESULTS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71C41"/>
                </a:solidFill>
                <a:latin typeface="Aptos Display"/>
              </a:rPr>
              <a:t>Run Status and Headline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79576"/>
            <a:ext cx="10881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6274"/>
                </a:solidFill>
                <a:latin typeface="Aptos"/>
              </a:rPr>
              <a:t>Formal V0 automated Judge results — evaluation pipeline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627632"/>
            <a:ext cx="2542032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216" y="1627632"/>
            <a:ext cx="73152" cy="1307592"/>
          </a:xfrm>
          <a:prstGeom prst="rect">
            <a:avLst/>
          </a:prstGeom>
          <a:solidFill>
            <a:srgbClr val="062F90"/>
          </a:solidFill>
          <a:ln w="12700">
            <a:solidFill>
              <a:srgbClr val="062F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792224"/>
            <a:ext cx="2157984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71C41"/>
                </a:solidFill>
                <a:latin typeface="Aptos Display"/>
              </a:rPr>
              <a:t>20,000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286000"/>
            <a:ext cx="215798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062F90"/>
                </a:solidFill>
                <a:latin typeface="Aptos"/>
              </a:rPr>
              <a:t>PAIR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532888"/>
            <a:ext cx="2157984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274"/>
                </a:solidFill>
                <a:latin typeface="Aptos"/>
              </a:rPr>
              <a:t>10k Track 5a + 10k Track 5b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627632"/>
            <a:ext cx="2542032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5848" y="1627632"/>
            <a:ext cx="73152" cy="1307592"/>
          </a:xfrm>
          <a:prstGeom prst="rect">
            <a:avLst/>
          </a:prstGeom>
          <a:solidFill>
            <a:srgbClr val="0E5825"/>
          </a:solidFill>
          <a:ln w="12700">
            <a:solidFill>
              <a:srgbClr val="0E5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1792224"/>
            <a:ext cx="2157984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71C41"/>
                </a:solidFill>
                <a:latin typeface="Aptos Display"/>
              </a:rPr>
              <a:t>99.97%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286000"/>
            <a:ext cx="215798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0E5825"/>
                </a:solidFill>
                <a:latin typeface="Aptos"/>
              </a:rPr>
              <a:t>SCHEMA-VALID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532888"/>
            <a:ext cx="2157984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274"/>
                </a:solidFill>
                <a:latin typeface="Aptos"/>
              </a:rPr>
              <a:t>19,994 / 20,000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1627632"/>
            <a:ext cx="2542032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1627632"/>
            <a:ext cx="73152" cy="1307592"/>
          </a:xfrm>
          <a:prstGeom prst="rect">
            <a:avLst/>
          </a:prstGeom>
          <a:solidFill>
            <a:srgbClr val="095A62"/>
          </a:solidFill>
          <a:ln w="12700">
            <a:solidFill>
              <a:srgbClr val="095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1792224"/>
            <a:ext cx="2157984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71C41"/>
                </a:solidFill>
                <a:latin typeface="Aptos Display"/>
              </a:rPr>
              <a:t>19,990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2286000"/>
            <a:ext cx="215798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095A62"/>
                </a:solidFill>
                <a:latin typeface="Aptos"/>
              </a:rPr>
              <a:t>RESOLVED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2532888"/>
            <a:ext cx="2157984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274"/>
                </a:solidFill>
                <a:latin typeface="Aptos"/>
              </a:rPr>
              <a:t>4 unresolved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97112" y="1627632"/>
            <a:ext cx="2542032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97112" y="1627632"/>
            <a:ext cx="73152" cy="1307592"/>
          </a:xfrm>
          <a:prstGeom prst="rect">
            <a:avLst/>
          </a:prstGeom>
          <a:solidFill>
            <a:srgbClr val="CD580A"/>
          </a:solidFill>
          <a:ln w="12700">
            <a:solidFill>
              <a:srgbClr val="CD5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792224"/>
            <a:ext cx="2157984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71C41"/>
                </a:solidFill>
                <a:latin typeface="Aptos Display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2286000"/>
            <a:ext cx="215798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CD580A"/>
                </a:solidFill>
                <a:latin typeface="Aptos"/>
              </a:rPr>
              <a:t>TERMINAL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2532888"/>
            <a:ext cx="2157984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274"/>
                </a:solidFill>
                <a:latin typeface="Aptos"/>
              </a:rPr>
              <a:t>Operational accounting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" y="3246120"/>
            <a:ext cx="53492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5216" y="3246120"/>
            <a:ext cx="91440" cy="2468880"/>
          </a:xfrm>
          <a:prstGeom prst="rect">
            <a:avLst/>
          </a:prstGeom>
          <a:solidFill>
            <a:srgbClr val="CD580A"/>
          </a:solidFill>
          <a:ln w="12700">
            <a:solidFill>
              <a:srgbClr val="CD5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3511296"/>
            <a:ext cx="2377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D580A"/>
                </a:solidFill>
                <a:latin typeface="Aptos"/>
              </a:rPr>
              <a:t>TRACK 5A · REMOVAL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3867912"/>
            <a:ext cx="18288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71C41"/>
                </a:solidFill>
                <a:latin typeface="Aptos Display"/>
              </a:rPr>
              <a:t>59.39%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462272"/>
            <a:ext cx="1874519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6274"/>
                </a:solidFill>
                <a:latin typeface="Aptos"/>
              </a:rPr>
              <a:t>removal precision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18688" y="3867912"/>
            <a:ext cx="16459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84630"/>
                </a:solidFill>
                <a:latin typeface="Aptos Display"/>
              </a:rPr>
              <a:t>40.61%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27832" y="4462272"/>
            <a:ext cx="166420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6274"/>
                </a:solidFill>
                <a:latin typeface="Aptos"/>
              </a:rPr>
              <a:t>wrong-removal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047488"/>
            <a:ext cx="44348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5,935 safe vs. 4,058 wrong · 9,993 resolved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376672"/>
            <a:ext cx="44348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CD580A"/>
                </a:solidFill>
                <a:latin typeface="Aptos"/>
              </a:rPr>
              <a:t>Key concern: over-removal is concentrated in identifiable slices.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54496" y="3246120"/>
            <a:ext cx="53492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54496" y="3246120"/>
            <a:ext cx="91440" cy="2468880"/>
          </a:xfrm>
          <a:prstGeom prst="rect">
            <a:avLst/>
          </a:prstGeom>
          <a:solidFill>
            <a:srgbClr val="095A62"/>
          </a:solidFill>
          <a:ln w="12700">
            <a:solidFill>
              <a:srgbClr val="095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3511296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95A62"/>
                </a:solidFill>
                <a:latin typeface="Aptos"/>
              </a:rPr>
              <a:t>TRACK 5B · CROSS-GROUP DISCOVERY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6248" y="3867912"/>
            <a:ext cx="18288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71C41"/>
                </a:solidFill>
                <a:latin typeface="Aptos Display"/>
              </a:rPr>
              <a:t>2.29%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4462272"/>
            <a:ext cx="223113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6274"/>
                </a:solidFill>
                <a:latin typeface="Aptos"/>
              </a:rPr>
              <a:t>candidate-pool positive yield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6024" y="3867912"/>
            <a:ext cx="13716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95A62"/>
                </a:solidFill>
                <a:latin typeface="Aptos Display"/>
              </a:rPr>
              <a:t>229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8" y="4462272"/>
            <a:ext cx="16916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6274"/>
                </a:solidFill>
                <a:latin typeface="Aptos"/>
              </a:rPr>
              <a:t>cross-group positives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5047488"/>
            <a:ext cx="42976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229 / 9,997 resolved selected candidates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5376672"/>
            <a:ext cx="440740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095A62"/>
                </a:solidFill>
                <a:latin typeface="Aptos"/>
              </a:rPr>
              <a:t>Bounded claim: this is candidate-pool yield — not corpus recall.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6928" y="6510528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718096"/>
                </a:solidFill>
                <a:latin typeface="Aptos"/>
              </a:rPr>
              <a:t>RESULTS &amp; ACTIONS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76672" y="6510528"/>
            <a:ext cx="14630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18096"/>
                </a:solidFill>
                <a:latin typeface="Aptos"/>
              </a:rPr>
              <a:t>FORMAL V0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510528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71809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01752"/>
            <a:ext cx="2135124" cy="292608"/>
          </a:xfrm>
          <a:prstGeom prst="roundRect">
            <a:avLst>
              <a:gd name="adj" fmla="val 35000"/>
            </a:avLst>
          </a:prstGeom>
          <a:solidFill>
            <a:srgbClr val="CD580A"/>
          </a:solidFill>
          <a:ln w="12700">
            <a:solidFill>
              <a:srgbClr val="CD5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38328"/>
            <a:ext cx="1988819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RESULTS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71C41"/>
                </a:solidFill>
                <a:latin typeface="Aptos Display"/>
              </a:rPr>
              <a:t>5a Results — Removal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79576"/>
            <a:ext cx="10881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6274"/>
                </a:solidFill>
                <a:latin typeface="Aptos"/>
              </a:rPr>
              <a:t>Actual keeper → removed decisions, uniformly sampled from the removal 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609344"/>
            <a:ext cx="4800600" cy="4553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865376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D580A"/>
                </a:solidFill>
                <a:latin typeface="Aptos"/>
              </a:rPr>
              <a:t>OVERALL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221992"/>
            <a:ext cx="219456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071C41"/>
                </a:solidFill>
                <a:latin typeface="Aptos Display"/>
              </a:rPr>
              <a:t>59.39%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880360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56274"/>
                </a:solidFill>
                <a:latin typeface="Aptos"/>
              </a:rPr>
              <a:t>REMOVAL 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218688"/>
            <a:ext cx="2926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Wilson 95% CI  58.43%–60.35%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3703320"/>
            <a:ext cx="4169663" cy="438912"/>
          </a:xfrm>
          <a:prstGeom prst="roundRect">
            <a:avLst>
              <a:gd name="adj" fmla="val 8000"/>
            </a:avLst>
          </a:prstGeom>
          <a:solidFill>
            <a:srgbClr val="E9EEF4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3703320"/>
            <a:ext cx="2476429" cy="438912"/>
          </a:xfrm>
          <a:prstGeom prst="roundRect">
            <a:avLst>
              <a:gd name="adj" fmla="val 8000"/>
            </a:avLst>
          </a:prstGeom>
          <a:solidFill>
            <a:srgbClr val="2B7A3D"/>
          </a:solidFill>
          <a:ln w="12700">
            <a:solidFill>
              <a:srgbClr val="2B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72541" y="3703320"/>
            <a:ext cx="1693234" cy="438912"/>
          </a:xfrm>
          <a:prstGeom prst="roundRect">
            <a:avLst>
              <a:gd name="adj" fmla="val 8000"/>
            </a:avLst>
          </a:prstGeom>
          <a:solidFill>
            <a:srgbClr val="C84630"/>
          </a:solidFill>
          <a:ln w="12700">
            <a:solidFill>
              <a:srgbClr val="C84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3544" y="4379976"/>
            <a:ext cx="109728" cy="109728"/>
          </a:xfrm>
          <a:prstGeom prst="ellipse">
            <a:avLst/>
          </a:prstGeom>
          <a:solidFill>
            <a:srgbClr val="2B7A3D"/>
          </a:solidFill>
          <a:ln>
            <a:solidFill>
              <a:srgbClr val="2B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343400"/>
            <a:ext cx="14630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5825"/>
                </a:solidFill>
                <a:latin typeface="Aptos"/>
              </a:rPr>
              <a:t>Safe  5,935</a:t>
            </a:r>
          </a:p>
        </p:txBody>
      </p:sp>
      <p:sp>
        <p:nvSpPr>
          <p:cNvPr id="16" name="Oval 15"/>
          <p:cNvSpPr/>
          <p:nvPr/>
        </p:nvSpPr>
        <p:spPr>
          <a:xfrm>
            <a:off x="2907792" y="4379976"/>
            <a:ext cx="109728" cy="109728"/>
          </a:xfrm>
          <a:prstGeom prst="ellipse">
            <a:avLst/>
          </a:prstGeom>
          <a:solidFill>
            <a:srgbClr val="C84630"/>
          </a:solidFill>
          <a:ln>
            <a:solidFill>
              <a:srgbClr val="C84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1528" y="4343400"/>
            <a:ext cx="153619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4630"/>
                </a:solidFill>
                <a:latin typeface="Aptos"/>
              </a:rPr>
              <a:t>Wrong  4,058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818888"/>
            <a:ext cx="3977639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556274"/>
                </a:solidFill>
                <a:latin typeface="Aptos"/>
              </a:rPr>
              <a:t>Denominator: 9,993 resolved sampled removals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5276088"/>
            <a:ext cx="4187952" cy="58521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F3C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431536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84630"/>
                </a:solidFill>
                <a:latin typeface="Aptos"/>
              </a:rPr>
              <a:t>40.61%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440680"/>
            <a:ext cx="286207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71C41"/>
                </a:solidFill>
                <a:latin typeface="Aptos"/>
              </a:rPr>
              <a:t>of resolved removal decisions were judged unsafe.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32704" y="1609344"/>
            <a:ext cx="5961888" cy="4553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25312" y="1865376"/>
            <a:ext cx="13716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D580A"/>
                </a:solidFill>
                <a:latin typeface="Aptos"/>
              </a:rPr>
              <a:t>RISK SLICES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5312" y="2176272"/>
            <a:ext cx="513892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1">
                <a:solidFill>
                  <a:srgbClr val="071C41"/>
                </a:solidFill>
                <a:latin typeface="Aptos"/>
              </a:rPr>
              <a:t>Removal precision drops sharply when documents differ in length or context.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25312" y="2743200"/>
            <a:ext cx="2103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ptos"/>
              </a:rPr>
              <a:t>Token ratio 0.5–0.8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779776"/>
            <a:ext cx="2331720" cy="182880"/>
          </a:xfrm>
          <a:prstGeom prst="roundRect">
            <a:avLst>
              <a:gd name="adj" fmla="val 8000"/>
            </a:avLst>
          </a:prstGeom>
          <a:solidFill>
            <a:srgbClr val="E9EEF4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2779776"/>
            <a:ext cx="271478" cy="182880"/>
          </a:xfrm>
          <a:prstGeom prst="roundRect">
            <a:avLst>
              <a:gd name="adj" fmla="val 8000"/>
            </a:avLst>
          </a:prstGeom>
          <a:solidFill>
            <a:srgbClr val="C84630"/>
          </a:solidFill>
          <a:ln w="12700">
            <a:solidFill>
              <a:srgbClr val="C84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88168" y="2743200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C84630"/>
                </a:solidFill>
                <a:latin typeface="Aptos"/>
              </a:rPr>
              <a:t>8.15%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2980944"/>
            <a:ext cx="443484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6274"/>
                </a:solidFill>
                <a:latin typeface="Aptos"/>
              </a:rPr>
              <a:t>798 resolved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5312" y="3383279"/>
            <a:ext cx="2103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ptos"/>
              </a:rPr>
              <a:t>Long documents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419856"/>
            <a:ext cx="2331720" cy="182880"/>
          </a:xfrm>
          <a:prstGeom prst="roundRect">
            <a:avLst>
              <a:gd name="adj" fmla="val 8000"/>
            </a:avLst>
          </a:prstGeom>
          <a:solidFill>
            <a:srgbClr val="E9EEF4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0" y="3419856"/>
            <a:ext cx="1411689" cy="182880"/>
          </a:xfrm>
          <a:prstGeom prst="roundRect">
            <a:avLst>
              <a:gd name="adj" fmla="val 8000"/>
            </a:avLst>
          </a:prstGeom>
          <a:solidFill>
            <a:srgbClr val="C84630"/>
          </a:solidFill>
          <a:ln w="12700">
            <a:solidFill>
              <a:srgbClr val="C84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88168" y="3383279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C84630"/>
                </a:solidFill>
                <a:latin typeface="Aptos"/>
              </a:rPr>
              <a:t>42.38%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25312" y="3621024"/>
            <a:ext cx="443484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6274"/>
                </a:solidFill>
                <a:latin typeface="Aptos"/>
              </a:rPr>
              <a:t>849 selected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5312" y="4023360"/>
            <a:ext cx="2103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ptos"/>
              </a:rPr>
              <a:t>Different hostname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059935"/>
            <a:ext cx="2331720" cy="182880"/>
          </a:xfrm>
          <a:prstGeom prst="roundRect">
            <a:avLst>
              <a:gd name="adj" fmla="val 8000"/>
            </a:avLst>
          </a:prstGeom>
          <a:solidFill>
            <a:srgbClr val="E9EEF4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0" y="4059935"/>
            <a:ext cx="1561919" cy="182880"/>
          </a:xfrm>
          <a:prstGeom prst="roundRect">
            <a:avLst>
              <a:gd name="adj" fmla="val 8000"/>
            </a:avLst>
          </a:prstGeom>
          <a:solidFill>
            <a:srgbClr val="CD580A"/>
          </a:solidFill>
          <a:ln w="12700">
            <a:solidFill>
              <a:srgbClr val="CD5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88168" y="4023360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CD580A"/>
                </a:solidFill>
                <a:latin typeface="Aptos"/>
              </a:rPr>
              <a:t>46.89%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5312" y="4261104"/>
            <a:ext cx="443484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6274"/>
                </a:solidFill>
                <a:latin typeface="Aptos"/>
              </a:rPr>
              <a:t>4,055 valid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25312" y="4663440"/>
            <a:ext cx="2103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ptos"/>
              </a:rPr>
              <a:t>Group size 21+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4700015"/>
            <a:ext cx="2331720" cy="182880"/>
          </a:xfrm>
          <a:prstGeom prst="roundRect">
            <a:avLst>
              <a:gd name="adj" fmla="val 8000"/>
            </a:avLst>
          </a:prstGeom>
          <a:solidFill>
            <a:srgbClr val="E9EEF4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46720" y="4700015"/>
            <a:ext cx="1729803" cy="182880"/>
          </a:xfrm>
          <a:prstGeom prst="roundRect">
            <a:avLst>
              <a:gd name="adj" fmla="val 8000"/>
            </a:avLst>
          </a:prstGeom>
          <a:solidFill>
            <a:srgbClr val="CD580A"/>
          </a:solidFill>
          <a:ln w="12700">
            <a:solidFill>
              <a:srgbClr val="CD5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88168" y="4663440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CD580A"/>
                </a:solidFill>
                <a:latin typeface="Aptos"/>
              </a:rPr>
              <a:t>51.93%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5312" y="4901183"/>
            <a:ext cx="443484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6274"/>
                </a:solidFill>
                <a:latin typeface="Aptos"/>
              </a:rPr>
              <a:t>4,633 resolved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25312" y="5468112"/>
            <a:ext cx="5340096" cy="457200"/>
          </a:xfrm>
          <a:prstGeom prst="roundRect">
            <a:avLst>
              <a:gd name="adj" fmla="val 8000"/>
            </a:avLst>
          </a:prstGeom>
          <a:solidFill>
            <a:srgbClr val="FFF1E2"/>
          </a:solidFill>
          <a:ln w="12700">
            <a:solidFill>
              <a:srgbClr val="F3C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5614416"/>
            <a:ext cx="65836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CD580A"/>
                </a:solidFill>
                <a:latin typeface="Aptos"/>
              </a:rPr>
              <a:t>Priority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5577840"/>
            <a:ext cx="418795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071C41"/>
                </a:solidFill>
                <a:latin typeface="Aptos"/>
              </a:rPr>
              <a:t>Add guardrails for length mismatch, long documents, cross-host pairs and large groups.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6928" y="6510528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718096"/>
                </a:solidFill>
                <a:latin typeface="Aptos"/>
              </a:rPr>
              <a:t>RESULTS &amp; ACTIONS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76672" y="6510528"/>
            <a:ext cx="14630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18096"/>
                </a:solidFill>
                <a:latin typeface="Aptos"/>
              </a:rPr>
              <a:t>FORMAL V0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09960" y="6510528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71809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01752"/>
            <a:ext cx="2135124" cy="292608"/>
          </a:xfrm>
          <a:prstGeom prst="roundRect">
            <a:avLst>
              <a:gd name="adj" fmla="val 35000"/>
            </a:avLst>
          </a:prstGeom>
          <a:solidFill>
            <a:srgbClr val="095A62"/>
          </a:solidFill>
          <a:ln w="12700">
            <a:solidFill>
              <a:srgbClr val="095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38328"/>
            <a:ext cx="1988819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RESULTS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71C41"/>
                </a:solidFill>
                <a:latin typeface="Aptos Display"/>
              </a:rPr>
              <a:t>5b Results — Cross-Group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79576"/>
            <a:ext cx="10881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6274"/>
                </a:solidFill>
                <a:latin typeface="Aptos"/>
              </a:rPr>
              <a:t>Missed-duplicate discovery within the selected anchor-based candidate pool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609344"/>
            <a:ext cx="3794760" cy="4544568"/>
          </a:xfrm>
          <a:prstGeom prst="roundRect">
            <a:avLst>
              <a:gd name="adj" fmla="val 8000"/>
            </a:avLst>
          </a:prstGeom>
          <a:solidFill>
            <a:srgbClr val="071C41"/>
          </a:solidFill>
          <a:ln w="12700">
            <a:solidFill>
              <a:srgbClr val="07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83664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FD0D8"/>
                </a:solidFill>
                <a:latin typeface="Aptos"/>
              </a:rPr>
              <a:t>OVERALL SELECTED POOL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67712"/>
            <a:ext cx="235915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2.29%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44368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AFC3DF"/>
                </a:solidFill>
                <a:latin typeface="Aptos"/>
              </a:rPr>
              <a:t>CANDIDATE-POOL POSITIVE YIELD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56432"/>
            <a:ext cx="2423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FD0D8"/>
                </a:solidFill>
                <a:latin typeface="Aptos"/>
              </a:rPr>
              <a:t>229 duplicate 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22191"/>
            <a:ext cx="2615184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4E1F0"/>
                </a:solidFill>
                <a:latin typeface="Aptos"/>
              </a:rPr>
              <a:t>out of 9,997 resolved selected candidates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4471416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102E5C"/>
          </a:solidFill>
          <a:ln w="12700">
            <a:solidFill>
              <a:srgbClr val="294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663440"/>
            <a:ext cx="685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7FD0D8"/>
                </a:solidFill>
                <a:latin typeface="Aptos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928616"/>
            <a:ext cx="250545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40" b="1">
                <a:solidFill>
                  <a:srgbClr val="FFFFFF"/>
                </a:solidFill>
                <a:latin typeface="Aptos"/>
              </a:rPr>
              <a:t>This metric is not corpus recall.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5605272"/>
            <a:ext cx="28803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AFC3DF"/>
                </a:solidFill>
                <a:latin typeface="Aptos"/>
              </a:rPr>
              <a:t>Unseen pairs have zero inclusion probability.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5152" y="1609344"/>
            <a:ext cx="6949440" cy="4544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865376"/>
            <a:ext cx="2926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95A62"/>
                </a:solidFill>
                <a:latin typeface="Aptos"/>
              </a:rPr>
              <a:t>YIELD BY SELECTED RETRIEVAL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185416"/>
            <a:ext cx="605332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1">
                <a:solidFill>
                  <a:srgbClr val="071C41"/>
                </a:solidFill>
                <a:latin typeface="Aptos"/>
              </a:rPr>
              <a:t>Overlap has the best yield; semantic-only supplies the most positives.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761488"/>
            <a:ext cx="2103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ptos"/>
              </a:rPr>
              <a:t>Both / overlap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9168" y="2798064"/>
            <a:ext cx="2761488" cy="182880"/>
          </a:xfrm>
          <a:prstGeom prst="roundRect">
            <a:avLst>
              <a:gd name="adj" fmla="val 8000"/>
            </a:avLst>
          </a:prstGeom>
          <a:solidFill>
            <a:srgbClr val="E9EEF4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59168" y="2798064"/>
            <a:ext cx="2608458" cy="182880"/>
          </a:xfrm>
          <a:prstGeom prst="roundRect">
            <a:avLst>
              <a:gd name="adj" fmla="val 8000"/>
            </a:avLst>
          </a:prstGeom>
          <a:solidFill>
            <a:srgbClr val="095A62"/>
          </a:solidFill>
          <a:ln w="12700">
            <a:solidFill>
              <a:srgbClr val="095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0384" y="2761488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095A62"/>
                </a:solidFill>
                <a:latin typeface="Aptos"/>
              </a:rPr>
              <a:t>9.45%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999232"/>
            <a:ext cx="4864608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6274"/>
                </a:solidFill>
                <a:latin typeface="Aptos"/>
              </a:rPr>
              <a:t>75 positives · 794 selected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547872"/>
            <a:ext cx="2103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ptos"/>
              </a:rPr>
              <a:t>Semantic-only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9168" y="3584448"/>
            <a:ext cx="2761488" cy="182880"/>
          </a:xfrm>
          <a:prstGeom prst="roundRect">
            <a:avLst>
              <a:gd name="adj" fmla="val 8000"/>
            </a:avLst>
          </a:prstGeom>
          <a:solidFill>
            <a:srgbClr val="E9EEF4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59168" y="3584448"/>
            <a:ext cx="729068" cy="182880"/>
          </a:xfrm>
          <a:prstGeom prst="roundRect">
            <a:avLst>
              <a:gd name="adj" fmla="val 8000"/>
            </a:avLst>
          </a:prstGeom>
          <a:solidFill>
            <a:srgbClr val="062F90"/>
          </a:solidFill>
          <a:ln w="12700">
            <a:solidFill>
              <a:srgbClr val="062F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0384" y="3547872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062F90"/>
                </a:solidFill>
                <a:latin typeface="Aptos"/>
              </a:rPr>
              <a:t>2.64%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785615"/>
            <a:ext cx="4864608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6274"/>
                </a:solidFill>
                <a:latin typeface="Aptos"/>
              </a:rPr>
              <a:t>130 positives · 4,927 selected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334256"/>
            <a:ext cx="2103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ptos"/>
              </a:rPr>
              <a:t>Lexical-only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59168" y="4370831"/>
            <a:ext cx="2761488" cy="182880"/>
          </a:xfrm>
          <a:prstGeom prst="roundRect">
            <a:avLst>
              <a:gd name="adj" fmla="val 8000"/>
            </a:avLst>
          </a:prstGeom>
          <a:solidFill>
            <a:srgbClr val="E9EEF4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59168" y="4370831"/>
            <a:ext cx="154885" cy="182880"/>
          </a:xfrm>
          <a:prstGeom prst="roundRect">
            <a:avLst>
              <a:gd name="adj" fmla="val 8000"/>
            </a:avLst>
          </a:prstGeom>
          <a:solidFill>
            <a:srgbClr val="CD580A"/>
          </a:solidFill>
          <a:ln w="12700">
            <a:solidFill>
              <a:srgbClr val="CD5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0384" y="4334256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CD580A"/>
                </a:solidFill>
                <a:latin typeface="Aptos"/>
              </a:rPr>
              <a:t>0.56%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572000"/>
            <a:ext cx="4864608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6274"/>
                </a:solidFill>
                <a:latin typeface="Aptos"/>
              </a:rPr>
              <a:t>24 positives · 4,279 selected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37760" y="5321808"/>
            <a:ext cx="6309360" cy="566928"/>
          </a:xfrm>
          <a:prstGeom prst="roundRect">
            <a:avLst>
              <a:gd name="adj" fmla="val 8000"/>
            </a:avLst>
          </a:prstGeom>
          <a:solidFill>
            <a:srgbClr val="EDF7F7"/>
          </a:solidFill>
          <a:ln w="12700">
            <a:solidFill>
              <a:srgbClr val="B7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60" y="5504688"/>
            <a:ext cx="11338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095A62"/>
                </a:solidFill>
                <a:latin typeface="Aptos"/>
              </a:rPr>
              <a:t>Budget implication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5477256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9" b="1">
                <a:solidFill>
                  <a:srgbClr val="071C41"/>
                </a:solidFill>
                <a:latin typeface="Aptos"/>
              </a:rPr>
              <a:t>Lexical-only contributes 4,279 candidates but only 24 positives (0.56% yield).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6048" y="5998464"/>
            <a:ext cx="61996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556274"/>
                </a:solidFill>
                <a:latin typeface="Aptos"/>
              </a:rPr>
              <a:t>Selected source counts are shaped by frozen per-anchor quotas; they are not natural prevalence or an unqualified retriever comparison.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" y="6510528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718096"/>
                </a:solidFill>
                <a:latin typeface="Aptos"/>
              </a:rPr>
              <a:t>RESULTS &amp; 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6510528"/>
            <a:ext cx="14630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18096"/>
                </a:solidFill>
                <a:latin typeface="Aptos"/>
              </a:rPr>
              <a:t>FORMAL V0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510528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71809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01752"/>
            <a:ext cx="2135124" cy="292608"/>
          </a:xfrm>
          <a:prstGeom prst="roundRect">
            <a:avLst>
              <a:gd name="adj" fmla="val 35000"/>
            </a:avLst>
          </a:prstGeom>
          <a:solidFill>
            <a:srgbClr val="331B78"/>
          </a:solidFill>
          <a:ln w="12700">
            <a:solidFill>
              <a:srgbClr val="331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38328"/>
            <a:ext cx="1988819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RESULTS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185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71C41"/>
                </a:solidFill>
                <a:latin typeface="Aptos Display"/>
              </a:rPr>
              <a:t>What We Learned / Recommended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79576"/>
            <a:ext cx="10881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6274"/>
                </a:solidFill>
                <a:latin typeface="Aptos"/>
              </a:rPr>
              <a:t>The evaluation system is complete; the next iteration should target the failure slices it exposed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627632"/>
            <a:ext cx="3456432" cy="2578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216" y="1627632"/>
            <a:ext cx="3456432" cy="91440"/>
          </a:xfrm>
          <a:prstGeom prst="rect">
            <a:avLst/>
          </a:prstGeom>
          <a:solidFill>
            <a:srgbClr val="CD580A"/>
          </a:solidFill>
          <a:ln w="12700">
            <a:solidFill>
              <a:srgbClr val="CD5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01952"/>
            <a:ext cx="6400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D580A"/>
                </a:solidFill>
                <a:latin typeface="Aptos Display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9816" y="1883664"/>
            <a:ext cx="630936" cy="274320"/>
          </a:xfrm>
          <a:prstGeom prst="roundRect">
            <a:avLst>
              <a:gd name="adj" fmla="val 8000"/>
            </a:avLst>
          </a:prstGeom>
          <a:solidFill>
            <a:srgbClr val="FFF1E2"/>
          </a:solidFill>
          <a:ln w="12700">
            <a:solidFill>
              <a:srgbClr val="FFF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1965960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30" b="1">
                <a:solidFill>
                  <a:srgbClr val="CD580A"/>
                </a:solidFill>
                <a:latin typeface="Aptos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23160"/>
            <a:ext cx="2816352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71C41"/>
                </a:solidFill>
                <a:latin typeface="Aptos Display"/>
              </a:rPr>
              <a:t>Protect removals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971800"/>
            <a:ext cx="2834640" cy="8412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60" b="0">
                <a:solidFill>
                  <a:srgbClr val="111827"/>
                </a:solidFill>
                <a:latin typeface="Aptos"/>
              </a:rPr>
              <a:t>Add safeguards and focused calibration for length mismatch, long documents, cross-host pairs and large predicted groups.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27632"/>
            <a:ext cx="3456432" cy="2578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627632"/>
            <a:ext cx="3456432" cy="91440"/>
          </a:xfrm>
          <a:prstGeom prst="rect">
            <a:avLst/>
          </a:prstGeom>
          <a:solidFill>
            <a:srgbClr val="095A62"/>
          </a:solidFill>
          <a:ln w="12700">
            <a:solidFill>
              <a:srgbClr val="095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901952"/>
            <a:ext cx="6400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95A62"/>
                </a:solidFill>
                <a:latin typeface="Aptos Display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85432" y="1883664"/>
            <a:ext cx="630936" cy="274320"/>
          </a:xfrm>
          <a:prstGeom prst="roundRect">
            <a:avLst>
              <a:gd name="adj" fmla="val 8000"/>
            </a:avLst>
          </a:prstGeom>
          <a:solidFill>
            <a:srgbClr val="EDF7F7"/>
          </a:solidFill>
          <a:ln w="12700">
            <a:solidFill>
              <a:srgbClr val="ED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58584" y="1965960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30" b="1">
                <a:solidFill>
                  <a:srgbClr val="095A62"/>
                </a:solidFill>
                <a:latin typeface="Aptos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423160"/>
            <a:ext cx="2816352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71C41"/>
                </a:solidFill>
                <a:latin typeface="Aptos Display"/>
              </a:rPr>
              <a:t>Rebalance retrieval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971800"/>
            <a:ext cx="2834640" cy="8412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60" b="0">
                <a:solidFill>
                  <a:srgbClr val="111827"/>
                </a:solidFill>
                <a:latin typeface="Aptos"/>
              </a:rPr>
              <a:t>Tighten lexical-only selection or move Judge budget toward higher-yield overlap and semantic candidates.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27632"/>
            <a:ext cx="3456432" cy="2578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6448" y="1627632"/>
            <a:ext cx="3456432" cy="91440"/>
          </a:xfrm>
          <a:prstGeom prst="rect">
            <a:avLst/>
          </a:prstGeom>
          <a:solidFill>
            <a:srgbClr val="331B78"/>
          </a:solidFill>
          <a:ln w="12700">
            <a:solidFill>
              <a:srgbClr val="331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1901952"/>
            <a:ext cx="6400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31B78"/>
                </a:solidFill>
                <a:latin typeface="Aptos Display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71048" y="1883664"/>
            <a:ext cx="630936" cy="27432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 w="12700">
            <a:solidFill>
              <a:srgbClr val="F3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44200" y="1965960"/>
            <a:ext cx="47548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30" b="1">
                <a:solidFill>
                  <a:srgbClr val="331B78"/>
                </a:solidFill>
                <a:latin typeface="Aptos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2423160"/>
            <a:ext cx="2816352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71C41"/>
                </a:solidFill>
                <a:latin typeface="Aptos Display"/>
              </a:rPr>
              <a:t>Preserve provenance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2971800"/>
            <a:ext cx="2834640" cy="8412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60" b="0">
                <a:solidFill>
                  <a:srgbClr val="111827"/>
                </a:solidFill>
                <a:latin typeface="Aptos"/>
              </a:rPr>
              <a:t>Freeze the resolved SUT config, retrieval caches and attestations so future runs are fully reproducible and auditable.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" y="4489704"/>
            <a:ext cx="11027664" cy="841248"/>
          </a:xfrm>
          <a:prstGeom prst="roundRect">
            <a:avLst>
              <a:gd name="adj" fmla="val 8000"/>
            </a:avLst>
          </a:prstGeom>
          <a:solidFill>
            <a:srgbClr val="FFF5D8"/>
          </a:solidFill>
          <a:ln w="12700">
            <a:solidFill>
              <a:srgbClr val="F0D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4718304"/>
            <a:ext cx="14173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78B00"/>
                </a:solidFill>
                <a:latin typeface="Aptos"/>
              </a:rPr>
              <a:t>REPORTING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4288" y="4681728"/>
            <a:ext cx="884224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71C41"/>
                </a:solidFill>
                <a:latin typeface="Aptos"/>
              </a:rPr>
              <a:t>LLM Judge ≠ human ground truth   ·   5b yield ≠ corpus recall   ·   no complete cluster precision / recall / F1   ·   never pool 5a + 5b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" y="5550408"/>
            <a:ext cx="11027664" cy="594360"/>
          </a:xfrm>
          <a:prstGeom prst="roundRect">
            <a:avLst>
              <a:gd name="adj" fmla="val 8000"/>
            </a:avLst>
          </a:prstGeom>
          <a:solidFill>
            <a:srgbClr val="071C41"/>
          </a:solidFill>
          <a:ln w="12700">
            <a:solidFill>
              <a:srgbClr val="071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5733288"/>
            <a:ext cx="30175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The evaluation infrastructure works.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5733288"/>
            <a:ext cx="69951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9DDB1"/>
                </a:solidFill>
                <a:latin typeface="Aptos"/>
              </a:rPr>
              <a:t>Now optimize the SUT against the failure slices we can see and measure.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6510528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718096"/>
                </a:solidFill>
                <a:latin typeface="Aptos"/>
              </a:rPr>
              <a:t>RESULTS &amp;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6510528"/>
            <a:ext cx="14630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18096"/>
                </a:solidFill>
                <a:latin typeface="Aptos"/>
              </a:rPr>
              <a:t>FORMAL V0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10528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71809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NeMo Curator Fuzzy Dedup Evaluation — Current Status</dc:title>
  <dc:subject>Formal V0 automated judge results</dc:subject>
  <dc:creator>NeMo Curator</dc:creator>
  <cp:keywords>deduplication, evaluation, LLM judge, NeMo Curator, Formal V0</cp:keywords>
  <dc:description>Generated from frozen Formal V0 report artifacts.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